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Dubai Medium" panose="020B0603030403030204" pitchFamily="34" charset="-78"/>
      <p:regular r:id="rId13"/>
    </p:embeddedFont>
    <p:embeddedFont>
      <p:font typeface="Gelasio" panose="020B0604020202020204" charset="0"/>
      <p:regular r:id="rId14"/>
    </p:embeddedFont>
    <p:embeddedFont>
      <p:font typeface="Gelasio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19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4264"/>
            <a:ext cx="668387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9852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Uncovering insights from 3,900 purchases to drive strategic business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713681"/>
            <a:ext cx="12686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443" y="1745605"/>
            <a:ext cx="4922416" cy="2694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88647" y="1713681"/>
            <a:ext cx="12686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D5FE6E-AD13-4C0D-9772-55DEC28EC754}"/>
              </a:ext>
            </a:extLst>
          </p:cNvPr>
          <p:cNvSpPr/>
          <p:nvPr/>
        </p:nvSpPr>
        <p:spPr>
          <a:xfrm>
            <a:off x="8060788" y="4797083"/>
            <a:ext cx="998806" cy="28135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715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Dataset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34505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22793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585889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Purchase records analyzed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634505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685952" y="22793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585889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points per transaction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634505"/>
            <a:ext cx="2599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462266" y="22793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585889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 ratings imputed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1139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Data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477146"/>
            <a:ext cx="248632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Age, gender, location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Subscription status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Previous purchases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3080" y="31139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33080" y="3477146"/>
            <a:ext cx="248632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Item, category, amount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Season, size, color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Discount applied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0042" y="31139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Behavior Metrics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70042" y="3477146"/>
            <a:ext cx="248632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Review ratings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Shipping type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Frequency patterns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A0D2EC-0C7C-30BC-44B7-29CAC733AB0A}"/>
              </a:ext>
            </a:extLst>
          </p:cNvPr>
          <p:cNvSpPr/>
          <p:nvPr/>
        </p:nvSpPr>
        <p:spPr>
          <a:xfrm>
            <a:off x="8060788" y="4797083"/>
            <a:ext cx="998806" cy="28135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3778"/>
            <a:ext cx="435046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Python Data Preparation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2185"/>
            <a:ext cx="2622724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1111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Loading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17638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Imported dataset using pandas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02185"/>
            <a:ext cx="2622724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1111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Exploration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417638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Checked structure and summary statistics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02185"/>
            <a:ext cx="2622724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1111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Cleaning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41763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Handled missing values, standardized columns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341191"/>
            <a:ext cx="4004965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450134"/>
            <a:ext cx="17904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Created age groups and purchase frequency metrics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11928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341191"/>
            <a:ext cx="4004965" cy="1905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450134"/>
            <a:ext cx="18424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75664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Loaded cleaned data into PostgreSQL</a:t>
            </a:r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9515D6-6107-2BC4-CE6E-5F83366EC9FA}"/>
              </a:ext>
            </a:extLst>
          </p:cNvPr>
          <p:cNvSpPr/>
          <p:nvPr/>
        </p:nvSpPr>
        <p:spPr>
          <a:xfrm>
            <a:off x="8060788" y="4797083"/>
            <a:ext cx="998806" cy="28135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374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16422"/>
            <a:ext cx="4752677" cy="27191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14387" y="3640146"/>
            <a:ext cx="120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Male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1550743" y="2164448"/>
            <a:ext cx="1782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Female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5599435" y="22076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99435" y="2570857"/>
            <a:ext cx="305313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Male customers generate </a:t>
            </a:r>
            <a:r>
              <a:rPr lang="en-US" sz="1100" b="1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2.1x more revenue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than female customers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99435" y="3152031"/>
            <a:ext cx="305313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Understanding this gap can inform targeted marketing strategies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E12EF9-7CE1-7048-9E34-A71294100A26}"/>
              </a:ext>
            </a:extLst>
          </p:cNvPr>
          <p:cNvSpPr/>
          <p:nvPr/>
        </p:nvSpPr>
        <p:spPr>
          <a:xfrm>
            <a:off x="8060788" y="4797083"/>
            <a:ext cx="998806" cy="28135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429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Product Performance Insights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52873"/>
            <a:ext cx="2290465" cy="1610692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5" name="Shape 2"/>
          <p:cNvSpPr/>
          <p:nvPr/>
        </p:nvSpPr>
        <p:spPr>
          <a:xfrm>
            <a:off x="4066877" y="1694631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D3C5B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3856" y="1811536"/>
            <a:ext cx="191319" cy="191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66877" y="22616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Top Rated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66877" y="2568178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Gloves, Sandals, Boots lead in customer satisfaction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57342" y="1552873"/>
            <a:ext cx="2290539" cy="1610692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10" name="Shape 6"/>
          <p:cNvSpPr/>
          <p:nvPr/>
        </p:nvSpPr>
        <p:spPr>
          <a:xfrm>
            <a:off x="6499101" y="1694631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D3C5B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6080" y="1811536"/>
            <a:ext cx="191319" cy="191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99101" y="22616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Discount-Driven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499101" y="2568178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Hats, Sneakers, Coats see highest discount usage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925119" y="3305324"/>
            <a:ext cx="4722763" cy="1383878"/>
          </a:xfrm>
          <a:prstGeom prst="roundRect">
            <a:avLst>
              <a:gd name="adj" fmla="val 1537"/>
            </a:avLst>
          </a:prstGeom>
          <a:solidFill>
            <a:srgbClr val="EEE8DD"/>
          </a:solidFill>
          <a:ln/>
        </p:spPr>
      </p:sp>
      <p:sp>
        <p:nvSpPr>
          <p:cNvPr id="15" name="Shape 10"/>
          <p:cNvSpPr/>
          <p:nvPr/>
        </p:nvSpPr>
        <p:spPr>
          <a:xfrm>
            <a:off x="4066877" y="344708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D3C5B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3856" y="3563987"/>
            <a:ext cx="191319" cy="191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66877" y="40141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Best Sellers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066877" y="4320629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Blouse, Pants, Jewelry top purchase volume</a:t>
            </a: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74CD01-334D-951B-0138-4F3E17DA5F66}"/>
              </a:ext>
            </a:extLst>
          </p:cNvPr>
          <p:cNvSpPr/>
          <p:nvPr/>
        </p:nvSpPr>
        <p:spPr>
          <a:xfrm>
            <a:off x="8060788" y="4797083"/>
            <a:ext cx="998806" cy="28135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2269"/>
            <a:ext cx="421860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923776" y="2420243"/>
            <a:ext cx="174367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79%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58" y="1534195"/>
            <a:ext cx="2126456" cy="2126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637" y="3837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Loyal Customers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414434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3,116 repeat buyers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00090" y="2420243"/>
            <a:ext cx="174367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18%</a:t>
            </a:r>
            <a:endParaRPr lang="en-US" sz="2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772" y="1534195"/>
            <a:ext cx="2126456" cy="2126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85952" y="3837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414434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701 customers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76405" y="2420243"/>
            <a:ext cx="174367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2%</a:t>
            </a:r>
            <a:endParaRPr lang="en-US" sz="2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086" y="1534195"/>
            <a:ext cx="2126456" cy="2126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2266" y="3837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New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48747" y="414434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83 customers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1C1E5D-0502-3A14-75E1-ACFDCD530DCA}"/>
              </a:ext>
            </a:extLst>
          </p:cNvPr>
          <p:cNvSpPr/>
          <p:nvPr/>
        </p:nvSpPr>
        <p:spPr>
          <a:xfrm>
            <a:off x="8060788" y="4797083"/>
            <a:ext cx="998806" cy="28135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4197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Shipping &amp; Subscription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82304"/>
            <a:ext cx="19115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Shipping Type Impact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845519"/>
            <a:ext cx="21884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Dubai Medium" panose="020B0603030403030204" pitchFamily="34" charset="-78"/>
                <a:ea typeface="Gelasio" pitchFamily="34" charset="-122"/>
                <a:cs typeface="Dubai Medium" panose="020B0603030403030204" pitchFamily="34" charset="-78"/>
              </a:rPr>
              <a:t>Standard: $58.46 avg</a:t>
            </a:r>
            <a:endParaRPr lang="en-US" sz="11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Dubai Medium" panose="020B0603030403030204" pitchFamily="34" charset="-78"/>
                <a:ea typeface="Gelasio" pitchFamily="34" charset="-122"/>
                <a:cs typeface="Dubai Medium" panose="020B0603030403030204" pitchFamily="34" charset="-78"/>
              </a:rPr>
              <a:t>Express: $60.48 avg</a:t>
            </a:r>
            <a:endParaRPr lang="en-US" sz="11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Dubai Medium" panose="020B0603030403030204" pitchFamily="34" charset="-78"/>
                <a:ea typeface="Gelasio" pitchFamily="34" charset="-122"/>
                <a:cs typeface="Dubai Medium" panose="020B0603030403030204" pitchFamily="34" charset="-78"/>
              </a:rPr>
              <a:t>2% higher spend with express</a:t>
            </a:r>
            <a:endParaRPr lang="en-US" sz="11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64201" y="24823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Subscription Status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64201" y="2845519"/>
            <a:ext cx="21884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Dubai Medium" panose="020B0603030403030204" pitchFamily="34" charset="-78"/>
                <a:ea typeface="Gelasio" pitchFamily="34" charset="-122"/>
                <a:cs typeface="Dubai Medium" panose="020B0603030403030204" pitchFamily="34" charset="-78"/>
              </a:rPr>
              <a:t>1,053 subscribers</a:t>
            </a:r>
            <a:endParaRPr lang="en-US" sz="11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Dubai Medium" panose="020B0603030403030204" pitchFamily="34" charset="-78"/>
                <a:ea typeface="Gelasio" pitchFamily="34" charset="-122"/>
                <a:cs typeface="Dubai Medium" panose="020B0603030403030204" pitchFamily="34" charset="-78"/>
              </a:rPr>
              <a:t>2,847 non-subscribers</a:t>
            </a:r>
            <a:endParaRPr lang="en-US" sz="11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Dubai Medium" panose="020B0603030403030204" pitchFamily="34" charset="-78"/>
                <a:ea typeface="Gelasio" pitchFamily="34" charset="-122"/>
                <a:cs typeface="Dubai Medium" panose="020B0603030403030204" pitchFamily="34" charset="-78"/>
              </a:rPr>
              <a:t>Similar avg spend ($59.49 vs $59.87)</a:t>
            </a:r>
            <a:endParaRPr lang="en-US" sz="11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2B6D1C-3CF3-AE5C-C35E-14B6A002C0CC}"/>
              </a:ext>
            </a:extLst>
          </p:cNvPr>
          <p:cNvSpPr/>
          <p:nvPr/>
        </p:nvSpPr>
        <p:spPr>
          <a:xfrm>
            <a:off x="8060788" y="4797083"/>
            <a:ext cx="998806" cy="28135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7694"/>
            <a:ext cx="39507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24198"/>
            <a:ext cx="8151614" cy="28615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318992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Young adults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drive highest revenue, followed by middle-aged customers</a:t>
            </a:r>
            <a:endParaRPr lang="en-US" sz="11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0BD8FF-2FFB-E9FB-B124-F21F1A01E5D5}"/>
              </a:ext>
            </a:extLst>
          </p:cNvPr>
          <p:cNvSpPr/>
          <p:nvPr/>
        </p:nvSpPr>
        <p:spPr>
          <a:xfrm>
            <a:off x="8060788" y="4797083"/>
            <a:ext cx="998806" cy="28135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19745"/>
            <a:ext cx="38018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Business Insights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475333"/>
            <a:ext cx="4722763" cy="854943"/>
          </a:xfrm>
          <a:prstGeom prst="roundRect">
            <a:avLst>
              <a:gd name="adj" fmla="val 10695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7069" y="1475333"/>
            <a:ext cx="76200" cy="854943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6" name="Text 3"/>
          <p:cNvSpPr/>
          <p:nvPr/>
        </p:nvSpPr>
        <p:spPr>
          <a:xfrm>
            <a:off x="714077" y="1636142"/>
            <a:ext cx="2691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1942654"/>
            <a:ext cx="43439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Dubai Medium" panose="020B0603030403030204" pitchFamily="34" charset="-78"/>
                <a:ea typeface="Gelasio" pitchFamily="34" charset="-122"/>
                <a:cs typeface="Dubai Medium" panose="020B0603030403030204" pitchFamily="34" charset="-78"/>
              </a:rPr>
              <a:t>839 customers used discounts while spending above average</a:t>
            </a:r>
            <a:endParaRPr lang="en-US" sz="11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96119" y="2472035"/>
            <a:ext cx="4722763" cy="854943"/>
          </a:xfrm>
          <a:prstGeom prst="roundRect">
            <a:avLst>
              <a:gd name="adj" fmla="val 10695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7069" y="2472035"/>
            <a:ext cx="76200" cy="854943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0" name="Text 7"/>
          <p:cNvSpPr/>
          <p:nvPr/>
        </p:nvSpPr>
        <p:spPr>
          <a:xfrm>
            <a:off x="714077" y="2632844"/>
            <a:ext cx="26920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Repeat Buyers &amp; Subscriptions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14077" y="2939355"/>
            <a:ext cx="43439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Dubai Medium" panose="020B0603030403030204" pitchFamily="34" charset="-78"/>
                <a:ea typeface="Gelasio" pitchFamily="34" charset="-122"/>
                <a:cs typeface="Dubai Medium" panose="020B0603030403030204" pitchFamily="34" charset="-78"/>
              </a:rPr>
              <a:t>958 repeat buyers; 2,518 non-repeat customers</a:t>
            </a:r>
            <a:endParaRPr lang="en-US" sz="11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96119" y="3468737"/>
            <a:ext cx="4722763" cy="854943"/>
          </a:xfrm>
          <a:prstGeom prst="roundRect">
            <a:avLst>
              <a:gd name="adj" fmla="val 10695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7069" y="3468737"/>
            <a:ext cx="76200" cy="854943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4" name="Text 11"/>
          <p:cNvSpPr/>
          <p:nvPr/>
        </p:nvSpPr>
        <p:spPr>
          <a:xfrm>
            <a:off x="714077" y="36295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Top Categories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14077" y="3936057"/>
            <a:ext cx="43439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Dubai Medium" panose="020B0603030403030204" pitchFamily="34" charset="-78"/>
                <a:ea typeface="Gelasio" pitchFamily="34" charset="-122"/>
                <a:cs typeface="Dubai Medium" panose="020B0603030403030204" pitchFamily="34" charset="-78"/>
              </a:rPr>
              <a:t>Clothing leads in both revenue and sales volume</a:t>
            </a:r>
            <a:endParaRPr lang="en-US" sz="1100" dirty="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355"/>
            <a:ext cx="49215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Strategic Recommendations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33860"/>
            <a:ext cx="708794" cy="8505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6671" y="13756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346671" y="1682130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Promote exclusive benefits to increase subscriber base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084412"/>
            <a:ext cx="708794" cy="850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6671" y="2226171"/>
            <a:ext cx="24413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346671" y="2532683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Reward repeat buyers to move them into loyal segment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934965"/>
            <a:ext cx="708794" cy="850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46671" y="3076724"/>
            <a:ext cx="20341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346671" y="3383235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785518"/>
            <a:ext cx="708794" cy="8505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46671" y="39272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346671" y="4233788"/>
            <a:ext cx="73012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 on high-revenue age groups and express shipping users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407C26-FF1E-5ED6-8EE8-6A278DEBA536}"/>
              </a:ext>
            </a:extLst>
          </p:cNvPr>
          <p:cNvSpPr/>
          <p:nvPr/>
        </p:nvSpPr>
        <p:spPr>
          <a:xfrm>
            <a:off x="8060788" y="4797083"/>
            <a:ext cx="998806" cy="281354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326</Words>
  <Application>Microsoft Office PowerPoint</Application>
  <PresentationFormat>On-screen Show (16:9)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Dubai Medium</vt:lpstr>
      <vt:lpstr>Gelasio Semi Bold</vt:lpstr>
      <vt:lpstr>-apple-system, BlinkMacSystemFont, Segoe UI, Roboto, Helvetica Neue, Arial, sans-serif Medium</vt:lpstr>
      <vt:lpstr>Gelasio</vt:lpstr>
      <vt:lpstr>Arial</vt:lpstr>
      <vt:lpstr>Gelasio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Yash Karakoti</dc:creator>
  <cp:lastModifiedBy>Yash Karakoti</cp:lastModifiedBy>
  <cp:revision>3</cp:revision>
  <dcterms:created xsi:type="dcterms:W3CDTF">2026-05-09T18:50:55Z</dcterms:created>
  <dcterms:modified xsi:type="dcterms:W3CDTF">2026-05-09T18:58:17Z</dcterms:modified>
</cp:coreProperties>
</file>